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Open Sans Bold"/>
      <p:regular r:id="rId201314"/>
    </p:embeddedFont>
    <p:embeddedFont>
      <p:font typeface="Open Sans"/>
      <p:regular r:id="rId201315"/>
    </p:embeddedFont>
    <p:embeddedFont>
      <p:font typeface="Unbounded"/>
      <p:regular r:id="rId201316"/>
    </p:embeddedFont>
    <p:embeddedFont>
      <p:font typeface="Unbounded Bold"/>
      <p:regular r:id="rId201317"/>
    </p:embeddedFont>
    <p:embeddedFont>
      <p:font typeface="Unbounded Black"/>
      <p:regular r:id="rId20131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png"/><Relationship Id="rId3" Type="http://schemas.openxmlformats.org/officeDocument/2006/relationships/image" Target="../media/image-2-3.svg"/><Relationship Id="rId4" Type="http://schemas.openxmlformats.org/officeDocument/2006/relationships/image" Target="../media/image-2-2.png"/><Relationship Id="rId5" Type="http://schemas.openxmlformats.org/officeDocument/2006/relationships/image" Target="../media/image-2-3.svg"/><Relationship Id="rId6" Type="http://schemas.openxmlformats.org/officeDocument/2006/relationships/image" Target="../media/image-2-2.png"/><Relationship Id="rId7" Type="http://schemas.openxmlformats.org/officeDocument/2006/relationships/image" Target="../media/image-2-3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image" Target="../media/image-10-1.png"/><Relationship Id="rId4" Type="http://schemas.openxmlformats.org/officeDocument/2006/relationships/image" Target="../media/image-10-2.svg"/><Relationship Id="rId5" Type="http://schemas.openxmlformats.org/officeDocument/2006/relationships/image" Target="../media/image-10-5.png"/><Relationship Id="rId6" Type="http://schemas.openxmlformats.org/officeDocument/2006/relationships/image" Target="../media/image-10-6.svg"/><Relationship Id="rId7" Type="http://schemas.openxmlformats.org/officeDocument/2006/relationships/image" Target="../media/image-10-5.png"/><Relationship Id="rId8" Type="http://schemas.openxmlformats.org/officeDocument/2006/relationships/image" Target="../media/image-10-6.sv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2394148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Customer Shopping Behavior Analysis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5233360" y="3858915"/>
            <a:ext cx="629686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Uncovering spending patterns, customer segments, and satisfaction drivers across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333F7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350 transactions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to guide strategic business decisions.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19807"/>
            <a:ext cx="1460860" cy="260152"/>
          </a:xfrm>
          <a:prstGeom prst="roundRect">
            <a:avLst>
              <a:gd name="adj" fmla="val 22124"/>
            </a:avLst>
          </a:prstGeom>
          <a:solidFill>
            <a:srgbClr val="D6F5EE"/>
          </a:solidFill>
          <a:ln/>
        </p:spPr>
      </p:sp>
      <p:sp>
        <p:nvSpPr>
          <p:cNvPr id="3" name="Text 1"/>
          <p:cNvSpPr/>
          <p:nvPr/>
        </p:nvSpPr>
        <p:spPr>
          <a:xfrm>
            <a:off x="764164" y="571103"/>
            <a:ext cx="1865067" cy="1575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PROJECT OVERVIEW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61475" y="841970"/>
            <a:ext cx="10868745" cy="5352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3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What We Set Out to Discover</a:t>
            </a:r>
            <a:endParaRPr lang="en-US" sz="33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2014438"/>
            <a:ext cx="6918350" cy="392043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004074" y="1749723"/>
            <a:ext cx="3532397" cy="7837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This project analyzes customer shopping behavior using transactional data to uncover insights into:</a:t>
            </a:r>
            <a:endParaRPr lang="en-US" sz="13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68267" y="2713335"/>
            <a:ext cx="256871" cy="256877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560677" y="2708077"/>
            <a:ext cx="2975794" cy="267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Spending Patterns</a:t>
            </a:r>
            <a:endParaRPr lang="en-US" sz="1650" dirty="0"/>
          </a:p>
        </p:txBody>
      </p:sp>
      <p:sp>
        <p:nvSpPr>
          <p:cNvPr id="9" name="Text 5"/>
          <p:cNvSpPr/>
          <p:nvPr/>
        </p:nvSpPr>
        <p:spPr>
          <a:xfrm>
            <a:off x="8560677" y="3130848"/>
            <a:ext cx="2975794" cy="5224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Revenue by membership, city, and age group</a:t>
            </a:r>
            <a:endParaRPr lang="en-US" sz="13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068267" y="3969048"/>
            <a:ext cx="256871" cy="256877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560677" y="3963789"/>
            <a:ext cx="2975794" cy="267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Customer Segments</a:t>
            </a:r>
            <a:endParaRPr lang="en-US" sz="1650" dirty="0"/>
          </a:p>
        </p:txBody>
      </p:sp>
      <p:sp>
        <p:nvSpPr>
          <p:cNvPr id="12" name="Text 7"/>
          <p:cNvSpPr/>
          <p:nvPr/>
        </p:nvSpPr>
        <p:spPr>
          <a:xfrm>
            <a:off x="8560677" y="4386560"/>
            <a:ext cx="2975794" cy="5224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Demographics, gender, and membership tiers</a:t>
            </a:r>
            <a:endParaRPr lang="en-US" sz="13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068267" y="5224760"/>
            <a:ext cx="256871" cy="25687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8560677" y="5219502"/>
            <a:ext cx="2975794" cy="267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Satisfaction Drivers</a:t>
            </a:r>
            <a:endParaRPr lang="en-US" sz="1650" dirty="0"/>
          </a:p>
        </p:txBody>
      </p:sp>
      <p:sp>
        <p:nvSpPr>
          <p:cNvPr id="15" name="Text 9"/>
          <p:cNvSpPr/>
          <p:nvPr/>
        </p:nvSpPr>
        <p:spPr>
          <a:xfrm>
            <a:off x="8560677" y="5642273"/>
            <a:ext cx="2975794" cy="5224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What influences customer sentiment and loyalty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1147366"/>
            <a:ext cx="860900" cy="287139"/>
          </a:xfrm>
          <a:prstGeom prst="roundRect">
            <a:avLst>
              <a:gd name="adj" fmla="val 22118"/>
            </a:avLst>
          </a:prstGeom>
          <a:noFill/>
          <a:ln w="6350">
            <a:solidFill>
              <a:srgbClr val="26A6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4879" y="1204020"/>
            <a:ext cx="1243676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26A68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DATASET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61475" y="1510109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Dataset at a Glance</a:t>
            </a:r>
            <a:endParaRPr lang="en-US" sz="3700" dirty="0"/>
          </a:p>
        </p:txBody>
      </p:sp>
      <p:sp>
        <p:nvSpPr>
          <p:cNvPr id="5" name="Text 3"/>
          <p:cNvSpPr/>
          <p:nvPr/>
        </p:nvSpPr>
        <p:spPr>
          <a:xfrm>
            <a:off x="661475" y="2478683"/>
            <a:ext cx="3465426" cy="623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49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350</a:t>
            </a:r>
            <a:endParaRPr lang="en-US" sz="4900" dirty="0"/>
          </a:p>
        </p:txBody>
      </p:sp>
      <p:sp>
        <p:nvSpPr>
          <p:cNvPr id="6" name="Text 4"/>
          <p:cNvSpPr/>
          <p:nvPr/>
        </p:nvSpPr>
        <p:spPr>
          <a:xfrm>
            <a:off x="661475" y="3338612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Transactions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661475" y="3747294"/>
            <a:ext cx="346542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Rows in the dataset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4363135" y="2478683"/>
            <a:ext cx="3465426" cy="623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49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11</a:t>
            </a:r>
            <a:endParaRPr lang="en-US" sz="4900" dirty="0"/>
          </a:p>
        </p:txBody>
      </p:sp>
      <p:sp>
        <p:nvSpPr>
          <p:cNvPr id="9" name="Text 7"/>
          <p:cNvSpPr/>
          <p:nvPr/>
        </p:nvSpPr>
        <p:spPr>
          <a:xfrm>
            <a:off x="4363135" y="3338612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Columns</a:t>
            </a:r>
            <a:endParaRPr lang="en-US" sz="1850" dirty="0"/>
          </a:p>
        </p:txBody>
      </p:sp>
      <p:sp>
        <p:nvSpPr>
          <p:cNvPr id="10" name="Text 8"/>
          <p:cNvSpPr/>
          <p:nvPr/>
        </p:nvSpPr>
        <p:spPr>
          <a:xfrm>
            <a:off x="4363135" y="3747294"/>
            <a:ext cx="346542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Key features tracked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8064794" y="2478683"/>
            <a:ext cx="3465426" cy="623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49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2</a:t>
            </a:r>
            <a:endParaRPr lang="en-US" sz="4900" dirty="0"/>
          </a:p>
        </p:txBody>
      </p:sp>
      <p:sp>
        <p:nvSpPr>
          <p:cNvPr id="12" name="Text 10"/>
          <p:cNvSpPr/>
          <p:nvPr/>
        </p:nvSpPr>
        <p:spPr>
          <a:xfrm>
            <a:off x="8064794" y="3338612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Missing Values</a:t>
            </a:r>
            <a:endParaRPr lang="en-US" sz="1850" dirty="0"/>
          </a:p>
        </p:txBody>
      </p:sp>
      <p:sp>
        <p:nvSpPr>
          <p:cNvPr id="13" name="Text 11"/>
          <p:cNvSpPr/>
          <p:nvPr/>
        </p:nvSpPr>
        <p:spPr>
          <a:xfrm>
            <a:off x="8064794" y="3747294"/>
            <a:ext cx="346542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 Satisfaction Level — removed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661475" y="4451350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Customer Demographics</a:t>
            </a:r>
            <a:endParaRPr lang="en-US" sz="1850" dirty="0"/>
          </a:p>
        </p:txBody>
      </p:sp>
      <p:sp>
        <p:nvSpPr>
          <p:cNvPr id="15" name="Text 13"/>
          <p:cNvSpPr/>
          <p:nvPr/>
        </p:nvSpPr>
        <p:spPr>
          <a:xfrm>
            <a:off x="661475" y="4935637"/>
            <a:ext cx="581337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Age, Gender, City, Membership Type, Satisfaction Level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6332776" y="4451350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Purchase &amp; Behavior</a:t>
            </a:r>
            <a:endParaRPr lang="en-US" sz="1850" dirty="0"/>
          </a:p>
        </p:txBody>
      </p:sp>
      <p:sp>
        <p:nvSpPr>
          <p:cNvPr id="17" name="Text 15"/>
          <p:cNvSpPr/>
          <p:nvPr/>
        </p:nvSpPr>
        <p:spPr>
          <a:xfrm>
            <a:off x="6332776" y="4935637"/>
            <a:ext cx="5203794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Item Purchased, Total Spend, Discount Applied, Days Since Last Purchase, Average Rating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61475" y="538262"/>
            <a:ext cx="1289415" cy="224334"/>
          </a:xfrm>
          <a:prstGeom prst="roundRect">
            <a:avLst>
              <a:gd name="adj" fmla="val 22118"/>
            </a:avLst>
          </a:prstGeom>
          <a:solidFill>
            <a:srgbClr val="D6F5EE"/>
          </a:solidFill>
          <a:ln/>
        </p:spPr>
      </p:sp>
      <p:sp>
        <p:nvSpPr>
          <p:cNvPr id="4" name="Text 1"/>
          <p:cNvSpPr/>
          <p:nvPr/>
        </p:nvSpPr>
        <p:spPr>
          <a:xfrm>
            <a:off x="750075" y="582513"/>
            <a:ext cx="1721799" cy="135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9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DATA PREPARATION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661475" y="808732"/>
            <a:ext cx="6296860" cy="9229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Exploratory Data Analysis in Python</a:t>
            </a:r>
            <a:endParaRPr lang="en-US" sz="2900" dirty="0"/>
          </a:p>
        </p:txBody>
      </p:sp>
      <p:sp>
        <p:nvSpPr>
          <p:cNvPr id="6" name="Text 3"/>
          <p:cNvSpPr/>
          <p:nvPr/>
        </p:nvSpPr>
        <p:spPr>
          <a:xfrm>
            <a:off x="661475" y="1904702"/>
            <a:ext cx="295268" cy="18454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333F70"/>
                </a:solidFill>
                <a:latin typeface="Unbounded Light" pitchFamily="34" charset="0"/>
                <a:ea typeface="Unbounded Light" pitchFamily="34" charset="-122"/>
                <a:cs typeface="Unbounded Light" pitchFamily="34" charset="-120"/>
              </a:rPr>
              <a:t>01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661475" y="2136577"/>
            <a:ext cx="6296860" cy="19050"/>
          </a:xfrm>
          <a:prstGeom prst="rect">
            <a:avLst/>
          </a:prstGeom>
          <a:solidFill>
            <a:srgbClr val="26A688"/>
          </a:solidFill>
          <a:ln/>
        </p:spPr>
      </p:sp>
      <p:sp>
        <p:nvSpPr>
          <p:cNvPr id="8" name="Text 5"/>
          <p:cNvSpPr/>
          <p:nvPr/>
        </p:nvSpPr>
        <p:spPr>
          <a:xfrm>
            <a:off x="661475" y="2248495"/>
            <a:ext cx="6296860" cy="230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Data Loading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661475" y="2548334"/>
            <a:ext cx="6296860" cy="420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11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Imported dataset using pandas; used </a:t>
            </a:r>
            <a:pPr algn="l" indent="0" marL="0">
              <a:lnSpc>
                <a:spcPct val="119000"/>
              </a:lnSpc>
              <a:buNone/>
            </a:pPr>
            <a:r>
              <a:rPr lang="en-US" sz="1150" dirty="0">
                <a:solidFill>
                  <a:srgbClr val="333F7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df.info()</a:t>
            </a:r>
            <a:pPr algn="l" indent="0" marL="0">
              <a:lnSpc>
                <a:spcPct val="119000"/>
              </a:lnSpc>
              <a:buNone/>
            </a:pPr>
            <a:r>
              <a:rPr lang="en-US" sz="11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and </a:t>
            </a:r>
            <a:pPr algn="l" indent="0" marL="0">
              <a:lnSpc>
                <a:spcPct val="119000"/>
              </a:lnSpc>
              <a:buNone/>
            </a:pPr>
            <a:r>
              <a:rPr lang="en-US" sz="1150" dirty="0">
                <a:solidFill>
                  <a:srgbClr val="333F7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df.describe()</a:t>
            </a:r>
            <a:pPr algn="l" indent="0" marL="0">
              <a:lnSpc>
                <a:spcPct val="119000"/>
              </a:lnSpc>
              <a:buNone/>
            </a:pPr>
            <a:r>
              <a:rPr lang="en-US" sz="11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for structure and summary stats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61475" y="3195042"/>
            <a:ext cx="295268" cy="18454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333F70"/>
                </a:solidFill>
                <a:latin typeface="Unbounded Light" pitchFamily="34" charset="0"/>
                <a:ea typeface="Unbounded Light" pitchFamily="34" charset="-122"/>
                <a:cs typeface="Unbounded Light" pitchFamily="34" charset="-120"/>
              </a:rPr>
              <a:t>02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61475" y="3426916"/>
            <a:ext cx="6296860" cy="19050"/>
          </a:xfrm>
          <a:prstGeom prst="rect">
            <a:avLst/>
          </a:prstGeom>
          <a:solidFill>
            <a:srgbClr val="26A688"/>
          </a:solidFill>
          <a:ln/>
        </p:spPr>
      </p:sp>
      <p:sp>
        <p:nvSpPr>
          <p:cNvPr id="12" name="Text 9"/>
          <p:cNvSpPr/>
          <p:nvPr/>
        </p:nvSpPr>
        <p:spPr>
          <a:xfrm>
            <a:off x="661475" y="3538835"/>
            <a:ext cx="6296860" cy="230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Missing Data Handling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661475" y="3838674"/>
            <a:ext cx="6296860" cy="210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11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Found 2 null values in Satisfaction Level — removed both records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661475" y="4275038"/>
            <a:ext cx="295268" cy="18454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333F70"/>
                </a:solidFill>
                <a:latin typeface="Unbounded Light" pitchFamily="34" charset="0"/>
                <a:ea typeface="Unbounded Light" pitchFamily="34" charset="-122"/>
                <a:cs typeface="Unbounded Light" pitchFamily="34" charset="-120"/>
              </a:rPr>
              <a:t>03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661475" y="4506913"/>
            <a:ext cx="6296860" cy="19050"/>
          </a:xfrm>
          <a:prstGeom prst="rect">
            <a:avLst/>
          </a:prstGeom>
          <a:solidFill>
            <a:srgbClr val="26A688"/>
          </a:solidFill>
          <a:ln/>
        </p:spPr>
      </p:sp>
      <p:sp>
        <p:nvSpPr>
          <p:cNvPr id="16" name="Text 13"/>
          <p:cNvSpPr/>
          <p:nvPr/>
        </p:nvSpPr>
        <p:spPr>
          <a:xfrm>
            <a:off x="661475" y="4618831"/>
            <a:ext cx="6296860" cy="230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Column Standardization</a:t>
            </a:r>
            <a:endParaRPr lang="en-US" sz="1450" dirty="0"/>
          </a:p>
        </p:txBody>
      </p:sp>
      <p:sp>
        <p:nvSpPr>
          <p:cNvPr id="17" name="Text 14"/>
          <p:cNvSpPr/>
          <p:nvPr/>
        </p:nvSpPr>
        <p:spPr>
          <a:xfrm>
            <a:off x="661475" y="4918670"/>
            <a:ext cx="6296860" cy="210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11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Renamed columns to snake_case for readability and documentation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661475" y="5355034"/>
            <a:ext cx="295268" cy="18454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333F70"/>
                </a:solidFill>
                <a:latin typeface="Unbounded Light" pitchFamily="34" charset="0"/>
                <a:ea typeface="Unbounded Light" pitchFamily="34" charset="-122"/>
                <a:cs typeface="Unbounded Light" pitchFamily="34" charset="-120"/>
              </a:rPr>
              <a:t>04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661475" y="5586909"/>
            <a:ext cx="6296860" cy="19050"/>
          </a:xfrm>
          <a:prstGeom prst="rect">
            <a:avLst/>
          </a:prstGeom>
          <a:solidFill>
            <a:srgbClr val="26A688"/>
          </a:solidFill>
          <a:ln/>
        </p:spPr>
      </p:sp>
      <p:sp>
        <p:nvSpPr>
          <p:cNvPr id="20" name="Text 17"/>
          <p:cNvSpPr/>
          <p:nvPr/>
        </p:nvSpPr>
        <p:spPr>
          <a:xfrm>
            <a:off x="661475" y="5698827"/>
            <a:ext cx="6296860" cy="230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Database Integration</a:t>
            </a:r>
            <a:endParaRPr lang="en-US" sz="1450" dirty="0"/>
          </a:p>
        </p:txBody>
      </p:sp>
      <p:sp>
        <p:nvSpPr>
          <p:cNvPr id="21" name="Text 18"/>
          <p:cNvSpPr/>
          <p:nvPr/>
        </p:nvSpPr>
        <p:spPr>
          <a:xfrm>
            <a:off x="661475" y="5998666"/>
            <a:ext cx="6296860" cy="210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11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Connected Python to PostgreSQL and loaded cleaned DataFrame for SQL analysis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19807"/>
            <a:ext cx="610378" cy="143470"/>
          </a:xfrm>
          <a:prstGeom prst="roundRect">
            <a:avLst>
              <a:gd name="adj" fmla="val 22134"/>
            </a:avLst>
          </a:prstGeom>
          <a:noFill/>
          <a:ln w="6350">
            <a:solidFill>
              <a:srgbClr val="26A6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8127" y="548084"/>
            <a:ext cx="1106658" cy="869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550" dirty="0">
                <a:solidFill>
                  <a:srgbClr val="26A68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SQL ANALYSIS</a:t>
            </a:r>
            <a:endParaRPr lang="en-US" sz="550" dirty="0"/>
          </a:p>
        </p:txBody>
      </p:sp>
      <p:sp>
        <p:nvSpPr>
          <p:cNvPr id="4" name="Text 2"/>
          <p:cNvSpPr/>
          <p:nvPr/>
        </p:nvSpPr>
        <p:spPr>
          <a:xfrm>
            <a:off x="661475" y="682129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Membership Revenue &amp; Average Order Value by City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661475" y="2871688"/>
            <a:ext cx="3654135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Revenue by Membership Type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61475" y="3066554"/>
            <a:ext cx="3654135" cy="2268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Compared total revenue across Gold, Silver, and Bronze tiers to identify which segments drive the most value.</a:t>
            </a:r>
            <a:endParaRPr lang="en-US" sz="7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52538" y="1101328"/>
            <a:ext cx="6983932" cy="3957638"/>
          </a:xfrm>
          <a:prstGeom prst="rect">
            <a:avLst/>
          </a:prstGeom>
        </p:spPr>
      </p:pic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475" y="5218212"/>
            <a:ext cx="6983932" cy="395763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882336" y="6988572"/>
            <a:ext cx="3654135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Average Order Value by City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7882336" y="7183438"/>
            <a:ext cx="3654135" cy="2268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Identified average order value for each city to surface regional spending differences and opportunities.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19807"/>
            <a:ext cx="610378" cy="143470"/>
          </a:xfrm>
          <a:prstGeom prst="roundRect">
            <a:avLst>
              <a:gd name="adj" fmla="val 22134"/>
            </a:avLst>
          </a:prstGeom>
          <a:solidFill>
            <a:srgbClr val="D6F5EE"/>
          </a:solidFill>
          <a:ln/>
        </p:spPr>
      </p:sp>
      <p:sp>
        <p:nvSpPr>
          <p:cNvPr id="3" name="Text 1"/>
          <p:cNvSpPr/>
          <p:nvPr/>
        </p:nvSpPr>
        <p:spPr>
          <a:xfrm>
            <a:off x="718127" y="548084"/>
            <a:ext cx="1106658" cy="869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5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SQL ANALYSIS</a:t>
            </a:r>
            <a:endParaRPr lang="en-US" sz="550" dirty="0"/>
          </a:p>
        </p:txBody>
      </p:sp>
      <p:sp>
        <p:nvSpPr>
          <p:cNvPr id="4" name="Text 2"/>
          <p:cNvSpPr/>
          <p:nvPr/>
        </p:nvSpPr>
        <p:spPr>
          <a:xfrm>
            <a:off x="661475" y="682129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Satisfaction Insights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661475" y="3431381"/>
            <a:ext cx="5319083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Membership vs. Satisfaction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61475" y="3626247"/>
            <a:ext cx="5928668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Bronze members are </a:t>
            </a:r>
            <a:pPr algn="l" indent="0" marL="0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333F7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significantly more "Unsatisfied"</a:t>
            </a:r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than Gold members — a clear loyalty gap to address.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661475" y="3786882"/>
            <a:ext cx="5319083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Top City for Satisfaction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61475" y="3981748"/>
            <a:ext cx="5928668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333F7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San Francisco</a:t>
            </a:r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leads with the highest average satisfaction score among all cities analyzed.</a:t>
            </a:r>
            <a:endParaRPr lang="en-US" sz="7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487" y="1101328"/>
            <a:ext cx="5319083" cy="531921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711299"/>
            <a:ext cx="1087609" cy="255786"/>
          </a:xfrm>
          <a:prstGeom prst="roundRect">
            <a:avLst>
              <a:gd name="adj" fmla="val 22114"/>
            </a:avLst>
          </a:prstGeom>
          <a:noFill/>
          <a:ln w="6350">
            <a:solidFill>
              <a:srgbClr val="26A6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62477" y="761802"/>
            <a:ext cx="1495189" cy="1547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50" dirty="0">
                <a:solidFill>
                  <a:srgbClr val="26A68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SQL ANALYSIS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61475" y="1027013"/>
            <a:ext cx="10868745" cy="5260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3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Gender Segmentation &amp; Discount Impact</a:t>
            </a:r>
            <a:endParaRPr lang="en-US" sz="33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2001341"/>
            <a:ext cx="6920831" cy="39218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999411" y="1927820"/>
            <a:ext cx="3537060" cy="5260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Gender by Membership &amp; City</a:t>
            </a:r>
            <a:endParaRPr lang="en-US" sz="1650" dirty="0"/>
          </a:p>
        </p:txBody>
      </p:sp>
      <p:sp>
        <p:nvSpPr>
          <p:cNvPr id="7" name="Text 4"/>
          <p:cNvSpPr/>
          <p:nvPr/>
        </p:nvSpPr>
        <p:spPr>
          <a:xfrm>
            <a:off x="7999411" y="2603798"/>
            <a:ext cx="3537060" cy="12729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Segmented member counts by gender, city, and membership type — revealing </a:t>
            </a:r>
            <a:pPr algn="l" indent="0" marL="0">
              <a:lnSpc>
                <a:spcPct val="126000"/>
              </a:lnSpc>
              <a:buNone/>
            </a:pPr>
            <a:r>
              <a:rPr lang="en-US" sz="1300" b="1" dirty="0">
                <a:solidFill>
                  <a:srgbClr val="333F7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extreme regional splits</a:t>
            </a:r>
            <a:pPr algn="l"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 Bronze in Chicago/Houston is 100% Female; Gold in SF and Silver in LA are 100% Male.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7999411" y="4087515"/>
            <a:ext cx="3537060" cy="19050"/>
          </a:xfrm>
          <a:prstGeom prst="roundRect">
            <a:avLst>
              <a:gd name="adj" fmla="val 49999"/>
            </a:avLst>
          </a:prstGeom>
          <a:solidFill>
            <a:srgbClr val="333F70">
              <a:alpha val="50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7999411" y="4317305"/>
            <a:ext cx="3537060" cy="5260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Discount Impact on Satisfaction</a:t>
            </a:r>
            <a:endParaRPr lang="en-US" sz="1650" dirty="0"/>
          </a:p>
        </p:txBody>
      </p:sp>
      <p:sp>
        <p:nvSpPr>
          <p:cNvPr id="10" name="Text 7"/>
          <p:cNvSpPr/>
          <p:nvPr/>
        </p:nvSpPr>
        <p:spPr>
          <a:xfrm>
            <a:off x="7999411" y="4993283"/>
            <a:ext cx="3537060" cy="10183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300" b="1" dirty="0">
                <a:solidFill>
                  <a:srgbClr val="333F7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100% of unsatisfied customers received discounts</a:t>
            </a:r>
            <a:pPr algn="l"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— yet sentiment did not improve. Discounts are being used as reactive compensation, not a proactive loyalty tool.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233360" y="1016496"/>
            <a:ext cx="1221551" cy="287139"/>
          </a:xfrm>
          <a:prstGeom prst="roundRect">
            <a:avLst>
              <a:gd name="adj" fmla="val 22118"/>
            </a:avLst>
          </a:prstGeom>
          <a:solidFill>
            <a:srgbClr val="D6F5EE"/>
          </a:solidFill>
          <a:ln/>
        </p:spPr>
      </p:sp>
      <p:sp>
        <p:nvSpPr>
          <p:cNvPr id="4" name="Text 1"/>
          <p:cNvSpPr/>
          <p:nvPr/>
        </p:nvSpPr>
        <p:spPr>
          <a:xfrm>
            <a:off x="5346765" y="1073150"/>
            <a:ext cx="1604327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SQL ANALYSIS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5233360" y="1379240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Spending &amp; Volume by Age Group</a:t>
            </a:r>
            <a:endParaRPr lang="en-US" sz="3700" dirty="0"/>
          </a:p>
        </p:txBody>
      </p:sp>
      <p:sp>
        <p:nvSpPr>
          <p:cNvPr id="6" name="Shape 3"/>
          <p:cNvSpPr/>
          <p:nvPr/>
        </p:nvSpPr>
        <p:spPr>
          <a:xfrm>
            <a:off x="5233360" y="2844006"/>
            <a:ext cx="6296860" cy="1404243"/>
          </a:xfrm>
          <a:prstGeom prst="roundRect">
            <a:avLst>
              <a:gd name="adj" fmla="val 5653"/>
            </a:avLst>
          </a:prstGeom>
          <a:solidFill>
            <a:srgbClr val="D6F5EE"/>
          </a:solidFill>
          <a:ln w="6350">
            <a:solidFill>
              <a:srgbClr val="BCDBD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428717" y="3039368"/>
            <a:ext cx="590614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30–39 Age Group</a:t>
            </a:r>
            <a:endParaRPr lang="en-US" sz="1850" dirty="0"/>
          </a:p>
        </p:txBody>
      </p:sp>
      <p:sp>
        <p:nvSpPr>
          <p:cNvPr id="8" name="Text 5"/>
          <p:cNvSpPr/>
          <p:nvPr/>
        </p:nvSpPr>
        <p:spPr>
          <a:xfrm>
            <a:off x="5428717" y="3448050"/>
            <a:ext cx="590614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333F7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Volume engine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— highest total revenue (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333F7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$192k+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) and volume (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333F7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2,725 items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)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5233360" y="4437261"/>
            <a:ext cx="6296860" cy="1404243"/>
          </a:xfrm>
          <a:prstGeom prst="roundRect">
            <a:avLst>
              <a:gd name="adj" fmla="val 5653"/>
            </a:avLst>
          </a:prstGeom>
          <a:solidFill>
            <a:srgbClr val="D6F5EE"/>
          </a:solidFill>
          <a:ln w="6350">
            <a:solidFill>
              <a:srgbClr val="BCDBD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428717" y="4632623"/>
            <a:ext cx="590614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20–29 Age Group</a:t>
            </a:r>
            <a:endParaRPr lang="en-US" sz="1850" dirty="0"/>
          </a:p>
        </p:txBody>
      </p:sp>
      <p:sp>
        <p:nvSpPr>
          <p:cNvPr id="11" name="Text 8"/>
          <p:cNvSpPr/>
          <p:nvPr/>
        </p:nvSpPr>
        <p:spPr>
          <a:xfrm>
            <a:off x="5428717" y="5041305"/>
            <a:ext cx="590614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333F7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Highest individual value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— avg spend of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333F7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$1,072.18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per customer,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333F7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16.3 items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per customer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233360" y="1910358"/>
            <a:ext cx="1139896" cy="287139"/>
          </a:xfrm>
          <a:prstGeom prst="roundRect">
            <a:avLst>
              <a:gd name="adj" fmla="val 22118"/>
            </a:avLst>
          </a:prstGeom>
          <a:noFill/>
          <a:ln w="6350">
            <a:solidFill>
              <a:srgbClr val="26A688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346765" y="1967012"/>
            <a:ext cx="1522672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26A68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DASHBOARD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5233360" y="2273102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Power BI Interactive Dashboard</a:t>
            </a:r>
            <a:endParaRPr lang="en-US" sz="3700" dirty="0"/>
          </a:p>
        </p:txBody>
      </p:sp>
      <p:sp>
        <p:nvSpPr>
          <p:cNvPr id="6" name="Text 3"/>
          <p:cNvSpPr/>
          <p:nvPr/>
        </p:nvSpPr>
        <p:spPr>
          <a:xfrm>
            <a:off x="5233360" y="3737868"/>
            <a:ext cx="6296860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Built an interactive Power BI dashboard to present all insights visually — enabling stakeholders to explore membership performance, city-level metrics, satisfaction trends, and demographic breakdowns at a glance.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827187"/>
            <a:ext cx="1731125" cy="287139"/>
          </a:xfrm>
          <a:prstGeom prst="roundRect">
            <a:avLst>
              <a:gd name="adj" fmla="val 22118"/>
            </a:avLst>
          </a:prstGeom>
          <a:solidFill>
            <a:srgbClr val="D6F5EE"/>
          </a:solidFill>
          <a:ln/>
        </p:spPr>
      </p:sp>
      <p:sp>
        <p:nvSpPr>
          <p:cNvPr id="3" name="Text 1"/>
          <p:cNvSpPr/>
          <p:nvPr/>
        </p:nvSpPr>
        <p:spPr>
          <a:xfrm>
            <a:off x="774879" y="883841"/>
            <a:ext cx="2113902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RECOMMENDATIONS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61475" y="1189930"/>
            <a:ext cx="10868745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Optimized Business Recommendations</a:t>
            </a:r>
            <a:endParaRPr lang="en-US" sz="37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2654697"/>
            <a:ext cx="5339820" cy="174476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77479" y="2869109"/>
            <a:ext cx="480940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Revamp Discount Policy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977479" y="3277791"/>
            <a:ext cx="480940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Stop reactive discounts — shift to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333F7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proactive loyalty rewards</a:t>
            </a:r>
            <a:endParaRPr lang="en-US" sz="14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90301" y="2654697"/>
            <a:ext cx="5339919" cy="174476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506305" y="2869109"/>
            <a:ext cx="480950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Gender-Tailored Subscriptions</a:t>
            </a:r>
            <a:endParaRPr lang="en-US" sz="1850" dirty="0"/>
          </a:p>
        </p:txBody>
      </p:sp>
      <p:sp>
        <p:nvSpPr>
          <p:cNvPr id="10" name="Text 6"/>
          <p:cNvSpPr/>
          <p:nvPr/>
        </p:nvSpPr>
        <p:spPr>
          <a:xfrm>
            <a:off x="6506305" y="3277791"/>
            <a:ext cx="4809509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Target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333F7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female Bronze members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in Chicago/Houston for upsell; design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333F7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male-centric campaigns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for West Coast</a:t>
            </a:r>
            <a:endParaRPr lang="en-US" sz="14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1475" y="4588470"/>
            <a:ext cx="5339820" cy="1442343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977479" y="4802882"/>
            <a:ext cx="480940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Age-Cohort Marketing</a:t>
            </a:r>
            <a:endParaRPr lang="en-US" sz="1850" dirty="0"/>
          </a:p>
        </p:txBody>
      </p:sp>
      <p:sp>
        <p:nvSpPr>
          <p:cNvPr id="13" name="Text 8"/>
          <p:cNvSpPr/>
          <p:nvPr/>
        </p:nvSpPr>
        <p:spPr>
          <a:xfrm>
            <a:off x="977479" y="5211564"/>
            <a:ext cx="480940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333F7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30–39: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volume loyalty programs.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333F7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20–29: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premium positioning</a:t>
            </a:r>
            <a:endParaRPr lang="en-US" sz="145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190301" y="4588470"/>
            <a:ext cx="5339919" cy="1442343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506305" y="4802882"/>
            <a:ext cx="480950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Replicate SF &amp; NY Service Model</a:t>
            </a:r>
            <a:endParaRPr lang="en-US" sz="1850" dirty="0"/>
          </a:p>
        </p:txBody>
      </p:sp>
      <p:sp>
        <p:nvSpPr>
          <p:cNvPr id="16" name="Text 10"/>
          <p:cNvSpPr/>
          <p:nvPr/>
        </p:nvSpPr>
        <p:spPr>
          <a:xfrm>
            <a:off x="6506305" y="5211564"/>
            <a:ext cx="480950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Document best practices in SF/NY (avg score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333F7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3.00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) and apply to Miami/Chicago (avg score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333F7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1.00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)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2026-08-31T15:46:34Z</dcterms:created>
  <dcterms:modified xsi:type="dcterms:W3CDTF">2026-08-31T15:46:34Z</dcterms:modified>
</cp:coreProperties>
</file>